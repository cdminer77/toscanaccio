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Ordini stimati %</c:v>
                </c:pt>
              </c:strCache>
            </c:strRef>
          </c:tx>
          <c:spPr>
            <a:solidFill>
              <a:srgbClr val="5A7B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7B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A5C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A60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Lavoratori 25-45</c:v>
                  </c:pt>
                  <c:pt idx="1">
                    <c:v>Famiglie 30-55</c:v>
                  </c:pt>
                  <c:pt idx="2">
                    <c:v>Studenti</c:v>
                  </c:pt>
                  <c:pt idx="3">
                    <c:v>Turisti/Porto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9F5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Ricavi €</c:v>
                </c:pt>
              </c:strCache>
            </c:strRef>
          </c:tx>
          <c:spPr>
            <a:solidFill>
              <a:srgbClr val="5A7B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Gen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Mag</c:v>
                  </c:pt>
                  <c:pt idx="5">
                    <c:v>Giu</c:v>
                  </c:pt>
                  <c:pt idx="6">
                    <c:v>Lug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Ott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3900</c:v>
                </c:pt>
                <c:pt idx="1">
                  <c:v>7020</c:v>
                </c:pt>
                <c:pt idx="2">
                  <c:v>10140</c:v>
                </c:pt>
                <c:pt idx="3">
                  <c:v>13260</c:v>
                </c:pt>
                <c:pt idx="4">
                  <c:v>16380</c:v>
                </c:pt>
                <c:pt idx="5">
                  <c:v>19500</c:v>
                </c:pt>
                <c:pt idx="6">
                  <c:v>19500</c:v>
                </c:pt>
                <c:pt idx="7">
                  <c:v>19500</c:v>
                </c:pt>
                <c:pt idx="8">
                  <c:v>19500</c:v>
                </c:pt>
                <c:pt idx="9">
                  <c:v>19500</c:v>
                </c:pt>
                <c:pt idx="10">
                  <c:v>19500</c:v>
                </c:pt>
                <c:pt idx="11">
                  <c:v>19500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€</c:v>
                </c:pt>
              </c:strCache>
            </c:strRef>
          </c:tx>
          <c:spPr>
            <a:solidFill>
              <a:srgbClr val="F9A6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Gen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Mag</c:v>
                  </c:pt>
                  <c:pt idx="5">
                    <c:v>Giu</c:v>
                  </c:pt>
                  <c:pt idx="6">
                    <c:v>Lug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Ott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-2643</c:v>
                </c:pt>
                <c:pt idx="1">
                  <c:v>-365</c:v>
                </c:pt>
                <c:pt idx="2">
                  <c:v>1912</c:v>
                </c:pt>
                <c:pt idx="3">
                  <c:v>4190</c:v>
                </c:pt>
                <c:pt idx="4">
                  <c:v>6467</c:v>
                </c:pt>
                <c:pt idx="5">
                  <c:v>8745</c:v>
                </c:pt>
                <c:pt idx="6">
                  <c:v>8745</c:v>
                </c:pt>
                <c:pt idx="7">
                  <c:v>8745</c:v>
                </c:pt>
                <c:pt idx="8">
                  <c:v>8745</c:v>
                </c:pt>
                <c:pt idx="9">
                  <c:v>8745</c:v>
                </c:pt>
                <c:pt idx="10">
                  <c:v>8745</c:v>
                </c:pt>
                <c:pt idx="11">
                  <c:v>8745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Allocazione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7B40"/>
              </a:solidFill>
              <a:effectLst/>
            </c:spPr>
          </c:dPt>
          <c:dPt>
            <c:idx val="1"/>
            <c:bubble3D val="0"/>
            <c:spPr>
              <a:solidFill>
                <a:srgbClr val="BA5C33"/>
              </a:solidFill>
              <a:effectLst/>
            </c:spPr>
          </c:dPt>
          <c:dPt>
            <c:idx val="2"/>
            <c:bubble3D val="0"/>
            <c:spPr>
              <a:solidFill>
                <a:srgbClr val="F9A602"/>
              </a:solidFill>
              <a:effectLst/>
            </c:spPr>
          </c:dPt>
          <c:dPt>
            <c:idx val="3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HW/Tech (62%)</c:v>
                </c:pt>
                <c:pt idx="1">
                  <c:v>Allestimento (18%)</c:v>
                </c:pt>
                <c:pt idx="2">
                  <c:v>Scorte/WC (11%)</c:v>
                </c:pt>
                <c:pt idx="3">
                  <c:v>Riserva liquidità (9%)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28000</c:v>
                </c:pt>
                <c:pt idx="1">
                  <c:v>8000</c:v>
                </c:pt>
                <c:pt idx="2">
                  <c:v>5000</c:v>
                </c:pt>
                <c:pt idx="3">
                  <c:v>4000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C2C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apertura. Presentati con entusiasmo. Il brand è tutto: il cinghiale cuoco I.A. rappresenta la tradizione addomesticata dalla tecnologia.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 che il gap è reale e misurabile: fai un test delivery a Livorno e trova cucina toscana DOC. Impossibile. Questo è il mercato libero che Toscanaccio prende.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quattro pilastri sono inseparabili: è la combinazione che crea il vantaggio competitivo. Nessuno dei competitor ha tutti e quattro.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 il gap: nonostante una città di 155k abitanti e un porto tra i più attivi d'Italia, non esiste oggi un'offerta delivery di cucina toscana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piatto ha scheda tecnica completa con allergeni, shelf-life e istruzioni riscaldamento. I piatti ⭐ sono le Signature Dishes.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stack è replicabile in ogni nuova location in 2-3 giorni. È il vero asset scalabile del modello di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delivery proprietario è la chiave. Molti competitor cedono il 25-30% ad aggregatori. Noi no. Questo si traduce direttamente in margine operativo.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combinazione specializzazione + tech + zero commissioni è il vantaggio difendibile. Le debolezze sono tipiche di ogni startup: risolvibili con 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break-even al mese 4 è raggiunto con circa 21-22 ordini/giorno. Il target di 50 ordini/giorno al mese 6 genera un EBITDA mensile di circa €4.200. Vedere xlsx allegato per dettaglio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fondatore mette € 20k di pelle nel gioco. L'angel porta i restanti 25k e ottiene equity + dashboard real-time mensile. Exit: acquisizione brand/tech o scale-up multi-location.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modello è replicabile perché tutto è codificato: menu, processi HACCP, tech stack, brand guidelines. Una nuova location si avvia in 4 settimane.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anni di esperienza non si improvvisano. Il founder ha già un'attività funzionante (Mangia e Bevi, Firenze) e parallelo sviluppo software. Non è un primo tentativo.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Chiudi con energia. 'Livorno ha fame di Toscana' è il tuo punchline. Lascia il silenzio dopo. Poi apri alle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28600"/>
            <a:ext cx="2743200" cy="2743200"/>
          </a:xfrm>
          <a:prstGeom prst="ellipse">
            <a:avLst/>
          </a:prstGeom>
          <a:solidFill>
            <a:srgbClr val="5A7B40">
              <a:alpha val="25000"/>
            </a:srgbClr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🐗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TOSCANACCIO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Gastronomia Toscana · Ghost Kitchen · Food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3703320"/>
            <a:ext cx="3657600" cy="27432"/>
          </a:xfrm>
          <a:prstGeom prst="rect">
            <a:avLst/>
          </a:prstGeom>
          <a:solidFill>
            <a:srgbClr val="BA5C33"/>
          </a:solidFill>
          <a:ln w="12700">
            <a:solidFill>
              <a:srgbClr val="BA5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— Business Angel  ·  2024–2025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Tito Speri 28 · 57100 Livorno · S.r.l.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manca oggi a Livorno?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cucina toscana vera in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Pizzerie, cinesi, kebab. La ribollita della nonna? Introvabile a domicilio.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piattaforme mangiano i margini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828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Glovo, Deliveroo, JustEat: 25-30% di commissione. I ristoratori sopravvivono a malapena.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usa&amp;getta ovunque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Plastica, polistirolo, materiali non riciclabili. La coscienza ambientale del consumatore è cambiata.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3017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operatività H24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3383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ha fame alle 23 a Livorno? Nessuno risponde. Il mercato notturno è vuoto.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Soluzione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Toscanaccio: il comfort food toscano nell'era digitale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F9A602"/>
          </a:solidFill>
          <a:ln w="12700">
            <a:solidFill>
              <a:srgbClr val="F9A6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unico ecosistema che unisce la nonna toscana e il Silicon Valley mindset.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12 piatti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Iconici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Cacciucco, Cinghiale,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Ribollita, Peposo.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Ricette autentiche,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cooking giornaliero.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24505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0632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 21.5" industriale,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MDB vending,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Teltonika 4G/5G.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24505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Traceability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Pyrex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0632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contenitore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chip NFC: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allergeni, batch,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temperatura.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🚴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0" y="24505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0632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commissioni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aggregatori.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+25-30% margine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competitor.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settore in forte crescita, un mercato locale libero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5A7B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 Mld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Mercato delivery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 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BA5C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444752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+12%/anno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08483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Crescita media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mercato delivery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A3D8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444752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+18%/anno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80760" y="208483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Crescita ghost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Italia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Livorno: 155.000 abitanti · polo industriale/portuale · mercato ghost kitchen = 0 competitor diretti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3383280"/>
          <a:ext cx="82296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Prodotto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piatti della tradizione toscana — ricette della nonna, tecnologia del futuro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520440"/>
        </p:xfrm>
        <a:graphic>
          <a:graphicData uri="http://schemas.openxmlformats.org/drawingml/2006/table">
            <a:tbl>
              <a:tblPr/>
              <a:tblGrid>
                <a:gridCol w="4389120"/>
                <a:gridCol w="1097280"/>
                <a:gridCol w="1371600"/>
                <a:gridCol w="15544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Piatto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Prezzo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Cacciucco livornese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Cinghiale in salmì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Peposo Impruneta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Lampredotto in umido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€7,50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Ragù di Chianina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Polpette al sugo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Ribollita della nonna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Fagioli con salsiccia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Zuppa di farro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Pappa al pomodoro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Cecìna livornese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Cantucci Vin 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34416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Piatto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92040" y="1344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344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344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7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medio ponderato: 27%  ·  Scontrino medio: € 15,00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Proprietario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lock-in. Nessuna piattaforma terza. Tutto nostro.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F9A602"/>
          </a:solidFill>
          <a:ln w="12700">
            <a:solidFill>
              <a:srgbClr val="F9A6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Backend FastAPI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SQLModel · Pydantic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per ordini, menu, contabilità, vending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Kiosk Industriale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8470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21.5" PCAP 1000 nits · IK10 antivandalo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Lettura QR, NFC, pagamenti contactless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Bus MDB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8470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SandenVendo G-Drink + Bianchi Lei 900 caffè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real-time, uptime H24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72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Teltonika 4G/5G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387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dual-SIM con failover automatico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Connessione garantita anche in caso di guasto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30632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172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UPS 1500VA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387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Doppia conversione · autonomia 20+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interruzioni operative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172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NFC/QR Traceability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5387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contenitore Pyrex: allergeni, batch,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produzione, temperatura, storia piatto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di Business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guadagna Toscanaccio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 Delivery Proprietario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A7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ricavi stimati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99923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 delivery via app/web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proprietari. 0% commissioni.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Margine netto superiore del 25-30%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aggregatori.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BA5C33"/>
          </a:solidFill>
          <a:ln w="12700">
            <a:solidFill>
              <a:srgbClr val="BA5C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 Walk-in / Kiosk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4612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ricavi stimati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99923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Clienti che passano in loco.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Ordine via kiosk touchscreen.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NFC/carta.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immediato.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2588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A3D8F"/>
          </a:solidFill>
          <a:ln w="12700">
            <a:solidFill>
              <a:srgbClr val="1A3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Catering B2B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ricavi stimati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299923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 con aziende locali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pranzi aziendali ricorrenti.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Avvio previsto mese 6+.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margine, pagamento a 30gg.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 SWOT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Posizionamento competitivo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5A7B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99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Punti di Forza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toscano DOC senza competitor diretti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proprietario: FastAPI, NFC, MDB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commissioni delivery (rider proprio)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medio 27% — margini solidi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Costi fissi ultra-contenuti (affitto &lt; 500€)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9A60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399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Debolezze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7099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nuovo, notorietà zero al lancio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2 operatori (titolare + 1 aiuto)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mq: capacità produttiva limitata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Ramp-up delivery proprietario lento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dipendenza dal fondatore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3D8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19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Opportunità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301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kitchen +18%/anno in Italia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competitor specializzato a Livorno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Espansione Pisa/Firenze (modello replicabile)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B2B aziendale ad alto margine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 crociere: turisti cercano autenticità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BA5C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319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Minacce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6301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Aggregatori con promozioni aggressive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Inflazione food cost (carni, pesce)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Difficoltà recruiting personale cucina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Stagionalità agosto e festività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Guasti hardware in fase avvio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Finanziario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Proiezioni Anno 1 — Scenario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32588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399032"/>
            <a:ext cx="25603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€ 93.600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217920" y="1668231"/>
            <a:ext cx="25603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Ricavi Anno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2130552"/>
            <a:ext cx="25603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217920" y="2399751"/>
            <a:ext cx="25603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medio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78892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BA5C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2862072"/>
            <a:ext cx="25603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 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17920" y="3131271"/>
            <a:ext cx="25603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52044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5A7B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3593592"/>
            <a:ext cx="25603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€ 11.700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217920" y="3862791"/>
            <a:ext cx="25603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Anno 1 (est.)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42519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17920" y="4325112"/>
            <a:ext cx="25603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17920" y="4594311"/>
            <a:ext cx="25603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investimento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 dell'Investimento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utilizziamo i € 45.000 totali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F9A602"/>
          </a:solidFill>
          <a:ln w="12700">
            <a:solidFill>
              <a:srgbClr val="F9A60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32588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 Finanziaria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37760" y="182880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0" y="1901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Capitale fondatore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760" y="19019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7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€ 20.000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37760" y="260604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20640" y="26791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Angel (ricercato)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0" y="2679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€ 25.000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3383280"/>
            <a:ext cx="3840480" cy="658368"/>
          </a:xfrm>
          <a:prstGeom prst="roundRect">
            <a:avLst>
              <a:gd name="adj" fmla="val 9722"/>
            </a:avLst>
          </a:prstGeom>
          <a:solidFill>
            <a:srgbClr val="243D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20640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34564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€ 45.000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offerta all'investitore: 15–25% (da negoziare) · Exit: 24-36 mesi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Livorno a tutta la Toscana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7712" y="2468880"/>
            <a:ext cx="182880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44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 1-6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842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Lancio Livorno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 locale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Ramp-up a 50 ordini/giorno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Raggiungimento break-even (M4)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clienti 300+ contatti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43984" y="2468880"/>
            <a:ext cx="182880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258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BA5C33"/>
          </a:solidFill>
          <a:ln w="12700">
            <a:solidFill>
              <a:srgbClr val="BA5C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344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 7-12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9842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Consolidamento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37744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mensile stabile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Lancio catering B2B aziendale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1.000+ follower social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Ottimizzazione tech stack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0256" y="2468880"/>
            <a:ext cx="182880" cy="1097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3258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A3D8F"/>
          </a:solidFill>
          <a:ln w="12700">
            <a:solidFill>
              <a:srgbClr val="1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344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6592" y="19842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Espansione Pisa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37744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modello ghost kitchen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HW/SW, zero lock-in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Avvio in 30 giorni con template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Secondo punto di produzione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3258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1344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12864" y="19842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/ Exit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12864" y="237744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Firenze + valutazione franchising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tech stack a terzi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/ PE food-tech italiano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investitore: 3-5x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5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Esperienza imprenditoriale + competenza tecnica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5A7B40"/>
          </a:solidFill>
          <a:ln w="12700">
            <a:solidFill>
              <a:srgbClr val="5A7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0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👨‍🍳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7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Fondatore &amp; CEO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anni di esperienza nel food e nel vending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gestore Mangia e Bevi (Firenze)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Toscanaccio ghost kitchen (Livorno)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DocEngineApp SaaS (documentazione tecnica)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Expertise: food ops, vending, tech, branding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Supporto: Studio Esposito (finance) + Studio Legale Vettore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32588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5A7B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444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cerchiamo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 Business Angel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176272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Capitale € 25.000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nel food/retail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su scale-up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(non operativo)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Pazienza: orizzonte 24-36m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🐗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nel progetto.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2128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Livorno ha fame di Toscana.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2816352"/>
            <a:ext cx="3657600" cy="27432"/>
          </a:xfrm>
          <a:prstGeom prst="rect">
            <a:avLst/>
          </a:prstGeom>
          <a:solidFill>
            <a:srgbClr val="BA5C33"/>
          </a:solidFill>
          <a:ln w="12700">
            <a:solidFill>
              <a:srgbClr val="BA5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A6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€ 25.000 · Equity da negoziare · Exit 24-36 mesi · Dashboard real-time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42900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Via Tito Speri 28, 57100 Livorno (LI)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77647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Supporto legale: Studio Legale Vettore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41239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Supporto contabile: Studio Esposito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471416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Email: [da completare]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riservato · Toscanaccio S.r.l.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Toscanaccio — Pitch Deck Business Angel 2024</dc:title>
  <dc:subject>PptxGenJS Presentation</dc:subject>
  <dc:creator>Toscanaccio S.r.l.</dc:creator>
  <cp:lastModifiedBy>Toscanaccio S.r.l.</cp:lastModifiedBy>
  <cp:revision>1</cp:revision>
  <dcterms:created xsi:type="dcterms:W3CDTF">2026-06-19T05:53:42Z</dcterms:created>
  <dcterms:modified xsi:type="dcterms:W3CDTF">2026-06-19T05:53:42Z</dcterms:modified>
</cp:coreProperties>
</file>